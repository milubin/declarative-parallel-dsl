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4B2742-7309-40EC-9930-B529214D8FA5}">
  <a:tblStyle styleId="{464B2742-7309-40EC-9930-B529214D8F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234440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777240" y="205740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ReflectionAgents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77240" y="31089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Self-improving AI through Reflexion-style agentic loops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77240" y="4114800"/>
            <a:ext cx="9601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5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EC0D5"/>
                </a:solidFill>
                <a:latin typeface="Calibri"/>
                <a:ea typeface="Calibri"/>
                <a:cs typeface="Calibri"/>
                <a:sym typeface="Calibri"/>
              </a:rPr>
              <a:t>A declarative framework where agents plan, critique each other,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5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EC0D5"/>
                </a:solidFill>
                <a:latin typeface="Calibri"/>
                <a:ea typeface="Calibri"/>
                <a:cs typeface="Calibri"/>
                <a:sym typeface="Calibri"/>
              </a:rPr>
              <a:t>and learn — without updating model weights.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77240" y="60350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FA3BD"/>
                </a:solidFill>
                <a:latin typeface="Calibri"/>
                <a:ea typeface="Calibri"/>
                <a:cs typeface="Calibri"/>
                <a:sym typeface="Calibri"/>
              </a:rPr>
              <a:t>Mark Lubin  ·  github.com/milubin/ReflectionAgents  ·  May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640080" y="45720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The big idea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640080" y="1371600"/>
            <a:ext cx="10972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400"/>
              <a:buFont typeface="Georgia"/>
              <a:buNone/>
            </a:pPr>
            <a:r>
              <a:rPr b="0" i="0" lang="en-US" sz="44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AI agents that </a:t>
            </a:r>
            <a:r>
              <a:rPr b="1" i="0" lang="en-US" sz="4400" u="none" cap="none" strike="noStrike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rPr>
              <a:t>talk to each other,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400"/>
              <a:buFont typeface="Georgia"/>
              <a:buNone/>
            </a:pPr>
            <a:r>
              <a:rPr b="0" i="0" lang="en-US" sz="44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critique their own work,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40080" y="28346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600"/>
              <a:buFont typeface="Georgia"/>
              <a:buNone/>
            </a:pPr>
            <a:r>
              <a:rPr b="0" i="0" lang="en-US" sz="36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and </a:t>
            </a:r>
            <a:r>
              <a:rPr b="1" i="0" lang="en-US" sz="3600" u="none" cap="none" strike="noStrike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rPr>
              <a:t>get measurably better</a:t>
            </a:r>
            <a:r>
              <a:rPr b="0" i="0" lang="en-US" sz="36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 across rounds —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40080" y="370332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600"/>
              <a:buFont typeface="Georgia"/>
              <a:buNone/>
            </a:pPr>
            <a:r>
              <a:rPr b="0" i="1" lang="en-US" sz="2600" u="none" cap="none" strike="noStrike">
                <a:solidFill>
                  <a:srgbClr val="1C7293"/>
                </a:solidFill>
                <a:latin typeface="Georgia"/>
                <a:ea typeface="Georgia"/>
                <a:cs typeface="Georgia"/>
                <a:sym typeface="Georgia"/>
              </a:rPr>
              <a:t>without retraining or updating any model weights.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40080" y="4846320"/>
            <a:ext cx="3566160" cy="1371600"/>
          </a:xfrm>
          <a:prstGeom prst="rect">
            <a:avLst/>
          </a:prstGeom>
          <a:solidFill>
            <a:srgbClr val="E8F1F5"/>
          </a:solidFill>
          <a:ln cap="flat" cmpd="sng" w="12700">
            <a:solidFill>
              <a:srgbClr val="E8F1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822960" y="4983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822960" y="5715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model retraining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80560" y="4846320"/>
            <a:ext cx="3566160" cy="1371600"/>
          </a:xfrm>
          <a:prstGeom prst="rect">
            <a:avLst/>
          </a:prstGeom>
          <a:solidFill>
            <a:srgbClr val="E8F1F5"/>
          </a:solidFill>
          <a:ln cap="flat" cmpd="sng" w="12700">
            <a:solidFill>
              <a:srgbClr val="E8F1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663440" y="4983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663440" y="5715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examples, CPU → GPU → Ray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8321040" y="4846320"/>
            <a:ext cx="3566160" cy="1371600"/>
          </a:xfrm>
          <a:prstGeom prst="rect">
            <a:avLst/>
          </a:prstGeom>
          <a:solidFill>
            <a:srgbClr val="E8F1F5"/>
          </a:solidFill>
          <a:ln cap="flat" cmpd="sng" w="12700">
            <a:solidFill>
              <a:srgbClr val="E8F1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8503920" y="4983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503920" y="5715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DSL, every backend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640080" y="45720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00"/>
              <a:buFont typeface="Georgia"/>
              <a:buNone/>
            </a:pPr>
            <a:r>
              <a:rPr b="0" i="0" lang="en-US" sz="32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Standard LLM calls answer once, then stop.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640080" y="2011680"/>
            <a:ext cx="5394960" cy="4206240"/>
          </a:xfrm>
          <a:prstGeom prst="rect">
            <a:avLst/>
          </a:prstGeom>
          <a:solidFill>
            <a:srgbClr val="E8F1F5"/>
          </a:solidFill>
          <a:ln cap="flat" cmpd="sng" w="12700">
            <a:solidFill>
              <a:srgbClr val="E8F1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3317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5"/>
          <p:cNvSpPr/>
          <p:nvPr/>
        </p:nvSpPr>
        <p:spPr>
          <a:xfrm>
            <a:off x="1645920" y="2377440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Single-pass generation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914400" y="3063240"/>
            <a:ext cx="484632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 self-correction. The model produces an answer, you read it, that's the run.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 mechanism to notice mistakes, refine reasoning, or build on prior work.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Hallucinations and shallow reasoning go unchecked unless a human catches them.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6400800" y="2011680"/>
            <a:ext cx="5394960" cy="420624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" name="Google Shape;5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5120" y="23317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5"/>
          <p:cNvSpPr/>
          <p:nvPr/>
        </p:nvSpPr>
        <p:spPr>
          <a:xfrm>
            <a:off x="7406640" y="237744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Reflective improvement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675120" y="3063240"/>
            <a:ext cx="484632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7F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DCE7F0"/>
                </a:solidFill>
                <a:latin typeface="Calibri"/>
                <a:ea typeface="Calibri"/>
                <a:cs typeface="Calibri"/>
                <a:sym typeface="Calibri"/>
              </a:rPr>
              <a:t>Generate. Critique. Improve. Repeat — until the agents agree the answer is good enough.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DCE7F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DCE7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DCE7F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DCE7F0"/>
                </a:solidFill>
                <a:latin typeface="Calibri"/>
                <a:ea typeface="Calibri"/>
                <a:cs typeface="Calibri"/>
                <a:sym typeface="Calibri"/>
              </a:rPr>
              <a:t>Multiple specialists work in parallel; a meta-agent picks the best ideas; critics validate before changes are applied.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DCE7F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DCE7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DCE7F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DCE7F0"/>
                </a:solidFill>
                <a:latin typeface="Calibri"/>
                <a:ea typeface="Calibri"/>
                <a:cs typeface="Calibri"/>
                <a:sym typeface="Calibri"/>
              </a:rPr>
              <a:t>All in natural language. No fine-tuning. No weight updates. Just better prompts and structured loops.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The foundation: Reflexion (Shinn et al., 2023)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640080" y="1280160"/>
            <a:ext cx="10972800" cy="1371600"/>
          </a:xfrm>
          <a:prstGeom prst="rect">
            <a:avLst/>
          </a:prstGeom>
          <a:solidFill>
            <a:srgbClr val="E8F1F5"/>
          </a:solidFill>
          <a:ln cap="flat" cmpd="sng" w="12700">
            <a:solidFill>
              <a:srgbClr val="E8F1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640080" y="1280160"/>
            <a:ext cx="91440" cy="13716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914400" y="141732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Georgia"/>
              <a:buNone/>
            </a:pPr>
            <a:r>
              <a:rPr b="1" i="1" lang="en-US" sz="18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"Language Agents with Verbal Reinforcement Learning"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914400" y="1920240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Agents reflect on their own outputs in natural language and use those reflections to improve on the next pass — without changing model parameters.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640080" y="3108960"/>
            <a:ext cx="361188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4290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6"/>
          <p:cNvSpPr/>
          <p:nvPr/>
        </p:nvSpPr>
        <p:spPr>
          <a:xfrm>
            <a:off x="914400" y="402336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Verbal reflection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914400" y="4572000"/>
            <a:ext cx="30632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Critique happens in plain English. The agent reads its prior answer and says what was wrong — no gradients, no weights.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4434840" y="3108960"/>
            <a:ext cx="361188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9160" y="34290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6"/>
          <p:cNvSpPr/>
          <p:nvPr/>
        </p:nvSpPr>
        <p:spPr>
          <a:xfrm>
            <a:off x="4709160" y="402336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Iterative learning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709160" y="4572000"/>
            <a:ext cx="30632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Each round produces a better output than the last. The system has a memory of its own mistakes within a session.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8229600" y="3108960"/>
            <a:ext cx="361188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3920" y="34290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6"/>
          <p:cNvSpPr/>
          <p:nvPr/>
        </p:nvSpPr>
        <p:spPr>
          <a:xfrm>
            <a:off x="8503920" y="402336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Self-terminating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8503920" y="4572000"/>
            <a:ext cx="30632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Loops stop when the agents collectively agree the output is good — not after a fixed number of rounds.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arXiv:2303.11366 · Now considered foundational; built into LangGraph, AutoGen, CrewAI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/>
          <p:nvPr/>
        </p:nvSpPr>
        <p:spPr>
          <a:xfrm>
            <a:off x="640080" y="45720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The pattern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Generate → Critique → Improve, with a stop condition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640080" y="2468880"/>
            <a:ext cx="2286000" cy="13716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640080" y="265176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777240" y="324612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Agents produce initial outputs in parallel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8" name="Google Shape;8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800" y="29718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7"/>
          <p:cNvSpPr/>
          <p:nvPr/>
        </p:nvSpPr>
        <p:spPr>
          <a:xfrm>
            <a:off x="3383280" y="2468880"/>
            <a:ext cx="2286000" cy="13716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3383280" y="265176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Critique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3520440" y="324612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Other agents review for flaws and gaps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29718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7"/>
          <p:cNvSpPr/>
          <p:nvPr/>
        </p:nvSpPr>
        <p:spPr>
          <a:xfrm>
            <a:off x="6126480" y="2468880"/>
            <a:ext cx="2286000" cy="13716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6126480" y="265176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Improve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6263640" y="324612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Refined outputs based on critiques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" name="Google Shape;9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0" y="29718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7"/>
          <p:cNvSpPr/>
          <p:nvPr/>
        </p:nvSpPr>
        <p:spPr>
          <a:xfrm>
            <a:off x="8869680" y="2468880"/>
            <a:ext cx="2286000" cy="1371600"/>
          </a:xfrm>
          <a:prstGeom prst="rect">
            <a:avLst/>
          </a:prstGeom>
          <a:solidFill>
            <a:srgbClr val="21295C"/>
          </a:solidFill>
          <a:ln cap="flat" cmpd="sng" w="1270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8869680" y="265176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Synthesize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9006840" y="324612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Final report when confidence is high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⟲  loop continues until average agent confidence ≥ threshold (e.g. 0.85)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640080" y="5029200"/>
            <a:ext cx="10972800" cy="1463040"/>
          </a:xfrm>
          <a:prstGeom prst="rect">
            <a:avLst/>
          </a:prstGeom>
          <a:solidFill>
            <a:srgbClr val="E8F1F5"/>
          </a:solidFill>
          <a:ln cap="flat" cmpd="sng" w="12700">
            <a:solidFill>
              <a:srgbClr val="E8F1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52578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/>
          <p:nvPr/>
        </p:nvSpPr>
        <p:spPr>
          <a:xfrm>
            <a:off x="1508760" y="521208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Why this matters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1508760" y="562356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Termination is intelligent, not arbitrary. The system runs as long as the agents say more thinking would help — and stops the moment they're confident the answer is good. This is the difference from "call the LLM 5 times and average."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The framework: one DSL, every backend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solidFill>
            <a:srgbClr val="21295C"/>
          </a:solidFill>
          <a:ln cap="flat" cmpd="sng" w="1270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/>
          <p:cNvSpPr/>
          <p:nvPr/>
        </p:nvSpPr>
        <p:spPr>
          <a:xfrm>
            <a:off x="914400" y="146304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E0F5"/>
              </a:buClr>
              <a:buSzPts val="2200"/>
              <a:buFont typeface="Consolas"/>
              <a:buNone/>
            </a:pPr>
            <a:r>
              <a:rPr b="0" i="0" lang="en-US" sz="2200" u="none" cap="none" strike="noStrike">
                <a:solidFill>
                  <a:srgbClr val="8FE0F5"/>
                </a:solidFill>
                <a:latin typeface="Consolas"/>
                <a:ea typeface="Consolas"/>
                <a:cs typeface="Consolas"/>
                <a:sym typeface="Consolas"/>
              </a:rPr>
              <a:t>ParallelDSL(backend="cpu" | "ray" | "gpu" | "csl")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914400" y="187452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EC0D5"/>
                </a:solidFill>
                <a:latin typeface="Calibri"/>
                <a:ea typeface="Calibri"/>
                <a:cs typeface="Calibri"/>
                <a:sym typeface="Calibri"/>
              </a:rPr>
              <a:t>Same workflow code. Different hardware. No rewrites.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640080" y="2651760"/>
            <a:ext cx="2697480" cy="3108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2788920" y="2834640"/>
            <a:ext cx="365760" cy="292608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"/>
          <p:cNvSpPr/>
          <p:nvPr/>
        </p:nvSpPr>
        <p:spPr>
          <a:xfrm>
            <a:off x="2788920" y="284378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914400" y="3291840"/>
            <a:ext cx="2148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914400" y="393192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ThreadPoolExecutor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914400" y="4434840"/>
            <a:ext cx="2148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Local parallel agents.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 dependencies.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3520440" y="2651760"/>
            <a:ext cx="2697480" cy="3108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5669280" y="2834640"/>
            <a:ext cx="365760" cy="292608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5669280" y="284378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3794760" y="3291840"/>
            <a:ext cx="2148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Ray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3794760" y="393192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Distributed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3794760" y="4434840"/>
            <a:ext cx="2148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Native parallelism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across cores or nodes.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6400800" y="2651760"/>
            <a:ext cx="2697480" cy="3108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8549640" y="2834640"/>
            <a:ext cx="365760" cy="292608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8549640" y="284378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6675120" y="3291840"/>
            <a:ext cx="2148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6675120" y="393192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Triton kernel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6675120" y="4434840"/>
            <a:ext cx="2148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CUDA path with CPU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fallback.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9281160" y="2651760"/>
            <a:ext cx="2697480" cy="3108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10835640" y="2834640"/>
            <a:ext cx="960120" cy="292608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10835640" y="2843784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9555480" y="3291840"/>
            <a:ext cx="2148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Cerebras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9555480" y="393192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WSE-3 CSL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9555480" y="4434840"/>
            <a:ext cx="2148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Wafer-scale hardware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target. Skeleton.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Backend dispatch happens in dsl/base_dsl.py — the workflow description never changes.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The agent pipeline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640080" y="100584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Planner → parallel specialists → reflection → synthesizer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4983480" y="1691640"/>
            <a:ext cx="2194560" cy="640080"/>
          </a:xfrm>
          <a:prstGeom prst="rect">
            <a:avLst/>
          </a:prstGeom>
          <a:solidFill>
            <a:srgbClr val="21295C"/>
          </a:solidFill>
          <a:ln cap="flat" cmpd="sng" w="1270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4983480" y="17830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Planner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1714500" y="2926080"/>
            <a:ext cx="2011680" cy="9144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1714500" y="30632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Specialist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1714500" y="34290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analyze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9"/>
          <p:cNvCxnSpPr/>
          <p:nvPr/>
        </p:nvCxnSpPr>
        <p:spPr>
          <a:xfrm flipH="1">
            <a:off x="2720340" y="2331720"/>
            <a:ext cx="3360420" cy="594360"/>
          </a:xfrm>
          <a:prstGeom prst="straightConnector1">
            <a:avLst/>
          </a:prstGeom>
          <a:noFill/>
          <a:ln cap="flat" cmpd="sng" w="15225">
            <a:solidFill>
              <a:srgbClr val="8FA3B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9"/>
          <p:cNvSpPr/>
          <p:nvPr/>
        </p:nvSpPr>
        <p:spPr>
          <a:xfrm>
            <a:off x="3954780" y="2926080"/>
            <a:ext cx="2011680" cy="9144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3954780" y="30632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Specialist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3954780" y="34290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analyze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9"/>
          <p:cNvCxnSpPr/>
          <p:nvPr/>
        </p:nvCxnSpPr>
        <p:spPr>
          <a:xfrm flipH="1">
            <a:off x="4960620" y="2331720"/>
            <a:ext cx="1120140" cy="594360"/>
          </a:xfrm>
          <a:prstGeom prst="straightConnector1">
            <a:avLst/>
          </a:prstGeom>
          <a:noFill/>
          <a:ln cap="flat" cmpd="sng" w="15225">
            <a:solidFill>
              <a:srgbClr val="8FA3B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9"/>
          <p:cNvSpPr/>
          <p:nvPr/>
        </p:nvSpPr>
        <p:spPr>
          <a:xfrm>
            <a:off x="6195060" y="2926080"/>
            <a:ext cx="2011680" cy="9144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6195060" y="30632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Specialist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6195060" y="34290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analyze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9"/>
          <p:cNvCxnSpPr/>
          <p:nvPr/>
        </p:nvCxnSpPr>
        <p:spPr>
          <a:xfrm>
            <a:off x="6080760" y="2331720"/>
            <a:ext cx="1120140" cy="594360"/>
          </a:xfrm>
          <a:prstGeom prst="straightConnector1">
            <a:avLst/>
          </a:prstGeom>
          <a:noFill/>
          <a:ln cap="flat" cmpd="sng" w="15225">
            <a:solidFill>
              <a:srgbClr val="8FA3B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9"/>
          <p:cNvSpPr/>
          <p:nvPr/>
        </p:nvSpPr>
        <p:spPr>
          <a:xfrm>
            <a:off x="8435340" y="2926080"/>
            <a:ext cx="2011680" cy="9144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8435340" y="30632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Specialist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8435340" y="34290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analyze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9"/>
          <p:cNvCxnSpPr/>
          <p:nvPr/>
        </p:nvCxnSpPr>
        <p:spPr>
          <a:xfrm>
            <a:off x="6080760" y="2331720"/>
            <a:ext cx="3360420" cy="594360"/>
          </a:xfrm>
          <a:prstGeom prst="straightConnector1">
            <a:avLst/>
          </a:prstGeom>
          <a:noFill/>
          <a:ln cap="flat" cmpd="sng" w="15225">
            <a:solidFill>
              <a:srgbClr val="8FA3B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9"/>
          <p:cNvSpPr/>
          <p:nvPr/>
        </p:nvSpPr>
        <p:spPr>
          <a:xfrm>
            <a:off x="1714500" y="4160520"/>
            <a:ext cx="8732520" cy="822960"/>
          </a:xfrm>
          <a:prstGeom prst="rect">
            <a:avLst/>
          </a:prstGeom>
          <a:solidFill>
            <a:srgbClr val="E8F1F5"/>
          </a:solidFill>
          <a:ln cap="flat" cmpd="sng" w="12700">
            <a:solidFill>
              <a:srgbClr val="1C729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1714500" y="4389120"/>
            <a:ext cx="8732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Reflection round  ·  agents critique each other if avg confidence &lt; threshold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4800600" y="5440680"/>
            <a:ext cx="2560320" cy="685800"/>
          </a:xfrm>
          <a:prstGeom prst="rect">
            <a:avLst/>
          </a:prstGeom>
          <a:solidFill>
            <a:srgbClr val="21295C"/>
          </a:solidFill>
          <a:ln cap="flat" cmpd="sng" w="1270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4800600" y="5550408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Synthesizer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9"/>
          <p:cNvCxnSpPr/>
          <p:nvPr/>
        </p:nvCxnSpPr>
        <p:spPr>
          <a:xfrm>
            <a:off x="2720340" y="3840480"/>
            <a:ext cx="0" cy="320040"/>
          </a:xfrm>
          <a:prstGeom prst="straightConnector1">
            <a:avLst/>
          </a:prstGeom>
          <a:noFill/>
          <a:ln cap="flat" cmpd="sng" w="15225">
            <a:solidFill>
              <a:srgbClr val="8FA3B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9"/>
          <p:cNvCxnSpPr/>
          <p:nvPr/>
        </p:nvCxnSpPr>
        <p:spPr>
          <a:xfrm>
            <a:off x="2720340" y="4983480"/>
            <a:ext cx="3360420" cy="457200"/>
          </a:xfrm>
          <a:prstGeom prst="straightConnector1">
            <a:avLst/>
          </a:prstGeom>
          <a:noFill/>
          <a:ln cap="flat" cmpd="sng" w="15225">
            <a:solidFill>
              <a:srgbClr val="8FA3B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9"/>
          <p:cNvCxnSpPr/>
          <p:nvPr/>
        </p:nvCxnSpPr>
        <p:spPr>
          <a:xfrm>
            <a:off x="4960620" y="3840480"/>
            <a:ext cx="0" cy="320040"/>
          </a:xfrm>
          <a:prstGeom prst="straightConnector1">
            <a:avLst/>
          </a:prstGeom>
          <a:noFill/>
          <a:ln cap="flat" cmpd="sng" w="15225">
            <a:solidFill>
              <a:srgbClr val="8FA3B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p9"/>
          <p:cNvCxnSpPr/>
          <p:nvPr/>
        </p:nvCxnSpPr>
        <p:spPr>
          <a:xfrm>
            <a:off x="4960620" y="4983480"/>
            <a:ext cx="1120140" cy="457200"/>
          </a:xfrm>
          <a:prstGeom prst="straightConnector1">
            <a:avLst/>
          </a:prstGeom>
          <a:noFill/>
          <a:ln cap="flat" cmpd="sng" w="15225">
            <a:solidFill>
              <a:srgbClr val="8FA3B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" name="Google Shape;172;p9"/>
          <p:cNvCxnSpPr/>
          <p:nvPr/>
        </p:nvCxnSpPr>
        <p:spPr>
          <a:xfrm>
            <a:off x="7200900" y="3840480"/>
            <a:ext cx="0" cy="320040"/>
          </a:xfrm>
          <a:prstGeom prst="straightConnector1">
            <a:avLst/>
          </a:prstGeom>
          <a:noFill/>
          <a:ln cap="flat" cmpd="sng" w="15225">
            <a:solidFill>
              <a:srgbClr val="8FA3B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9"/>
          <p:cNvCxnSpPr/>
          <p:nvPr/>
        </p:nvCxnSpPr>
        <p:spPr>
          <a:xfrm flipH="1">
            <a:off x="6080760" y="4983480"/>
            <a:ext cx="1120140" cy="457200"/>
          </a:xfrm>
          <a:prstGeom prst="straightConnector1">
            <a:avLst/>
          </a:prstGeom>
          <a:noFill/>
          <a:ln cap="flat" cmpd="sng" w="15225">
            <a:solidFill>
              <a:srgbClr val="8FA3B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p9"/>
          <p:cNvCxnSpPr/>
          <p:nvPr/>
        </p:nvCxnSpPr>
        <p:spPr>
          <a:xfrm>
            <a:off x="9441180" y="3840480"/>
            <a:ext cx="0" cy="320040"/>
          </a:xfrm>
          <a:prstGeom prst="straightConnector1">
            <a:avLst/>
          </a:prstGeom>
          <a:noFill/>
          <a:ln cap="flat" cmpd="sng" w="15225">
            <a:solidFill>
              <a:srgbClr val="8FA3B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" name="Google Shape;175;p9"/>
          <p:cNvCxnSpPr/>
          <p:nvPr/>
        </p:nvCxnSpPr>
        <p:spPr>
          <a:xfrm flipH="1">
            <a:off x="6080760" y="4983480"/>
            <a:ext cx="3360420" cy="457200"/>
          </a:xfrm>
          <a:prstGeom prst="straightConnector1">
            <a:avLst/>
          </a:prstGeom>
          <a:noFill/>
          <a:ln cap="flat" cmpd="sng" w="15225">
            <a:solidFill>
              <a:srgbClr val="8FA3B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9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Every agent returns structured JSON with a confidence score that drives loop termination.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Two real domains, same framework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640080" y="100584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The framework's claim: it works on real problems, not toy text tasks.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640080" y="1691640"/>
            <a:ext cx="5440680" cy="4754880"/>
          </a:xfrm>
          <a:prstGeom prst="rect">
            <a:avLst/>
          </a:prstGeom>
          <a:solidFill>
            <a:srgbClr val="E8F1F5"/>
          </a:solidFill>
          <a:ln cap="flat" cmpd="sng" w="12700">
            <a:solidFill>
              <a:srgbClr val="E8F1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5" name="Google Shape;18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96596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0"/>
          <p:cNvSpPr/>
          <p:nvPr/>
        </p:nvSpPr>
        <p:spPr>
          <a:xfrm>
            <a:off x="1828800" y="196596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Quantum Error Correction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1828800" y="2404872"/>
            <a:ext cx="4160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Examples 09, 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914400" y="2971800"/>
            <a:ext cx="489204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Real physics simulation via Stim — a 3-qubit bit-flip repetition code.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Navigator agent reasons in natural language about which noise levels to probe next, building a real error-rate curve adaptively.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Demonstrates the framework as an autonomous experimental scientist.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914400" y="5715000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Output: log-log noise curve, agent graph, full JSON history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6446520" y="1691640"/>
            <a:ext cx="5440680" cy="475488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" name="Google Shape;19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0840" y="196596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0"/>
          <p:cNvSpPr/>
          <p:nvPr/>
        </p:nvSpPr>
        <p:spPr>
          <a:xfrm>
            <a:off x="7635240" y="196596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Adaptive Enemy AI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7635240" y="2404872"/>
            <a:ext cx="4160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Example 11  —  the focus of this deck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6720840" y="2971800"/>
            <a:ext cx="489204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7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CE7F0"/>
                </a:solidFill>
                <a:latin typeface="Calibri"/>
                <a:ea typeface="Calibri"/>
                <a:cs typeface="Calibri"/>
                <a:sym typeface="Calibri"/>
              </a:rPr>
              <a:t>An enemy in a dungeon RPG that learns to beat the player across episodes.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7F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DCE7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7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CE7F0"/>
                </a:solidFill>
                <a:latin typeface="Calibri"/>
                <a:ea typeface="Calibri"/>
                <a:cs typeface="Calibri"/>
                <a:sym typeface="Calibri"/>
              </a:rPr>
              <a:t>Four specialist agents propose policy changes. A Navigator picks the best ones. Critics validate. Metrics confirm.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7F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DCE7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7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CE7F0"/>
                </a:solidFill>
                <a:latin typeface="Calibri"/>
                <a:ea typeface="Calibri"/>
                <a:cs typeface="Calibri"/>
                <a:sym typeface="Calibri"/>
              </a:rPr>
              <a:t>Same Reflexion pattern as QEC — but the domain is policy parameter optimization on a synthetic combat benchmark.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6720840" y="5715000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AEC0D5"/>
                </a:solidFill>
                <a:latin typeface="Calibri"/>
                <a:ea typeface="Calibri"/>
                <a:cs typeface="Calibri"/>
                <a:sym typeface="Calibri"/>
              </a:rPr>
              <a:t>Output: learning curve, agent graph, complete run log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777240" y="128016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E0F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8FE0F5"/>
                </a:solidFill>
                <a:latin typeface="Calibri"/>
                <a:ea typeface="Calibri"/>
                <a:cs typeface="Calibri"/>
                <a:sym typeface="Calibri"/>
              </a:rPr>
              <a:t>Example 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777240" y="1783080"/>
            <a:ext cx="10972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enemy learns to beat you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777240" y="3291840"/>
            <a:ext cx="10515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5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AEC0D5"/>
                </a:solidFill>
                <a:latin typeface="Calibri"/>
                <a:ea typeface="Calibri"/>
                <a:cs typeface="Calibri"/>
                <a:sym typeface="Calibri"/>
              </a:rPr>
              <a:t>A 12×9 corridor dungeon. The enemy starts dumb — slow, weak attacks, no tactics. Six tunable policy parameters. Twelve simulation trials per policy evaluation. Five rounds of multi-agent reflection.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777240" y="5120640"/>
            <a:ext cx="3520440" cy="118872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960120" y="5257800"/>
            <a:ext cx="3154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960120" y="589788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C0D5"/>
                </a:solidFill>
                <a:latin typeface="Calibri"/>
                <a:ea typeface="Calibri"/>
                <a:cs typeface="Calibri"/>
                <a:sym typeface="Calibri"/>
              </a:rPr>
              <a:t>baseline win 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4526280" y="5120640"/>
            <a:ext cx="3520440" cy="118872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4709160" y="5257800"/>
            <a:ext cx="3154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92%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4709160" y="589788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C0D5"/>
                </a:solidFill>
                <a:latin typeface="Calibri"/>
                <a:ea typeface="Calibri"/>
                <a:cs typeface="Calibri"/>
                <a:sym typeface="Calibri"/>
              </a:rPr>
              <a:t>after 5 rounds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8275320" y="5120640"/>
            <a:ext cx="3520440" cy="118872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8458200" y="5257800"/>
            <a:ext cx="3154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112s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8458200" y="589788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C0D5"/>
                </a:solidFill>
                <a:latin typeface="Calibri"/>
                <a:ea typeface="Calibri"/>
                <a:cs typeface="Calibri"/>
                <a:sym typeface="Calibri"/>
              </a:rPr>
              <a:t>total runtime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The cast: six specialized agents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640080" y="100584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Each round, four analysts work in parallel; a Navigator chooses; critics validate.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640080" y="1691640"/>
            <a:ext cx="3657600" cy="2240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"/>
          <p:cNvSpPr/>
          <p:nvPr/>
        </p:nvSpPr>
        <p:spPr>
          <a:xfrm>
            <a:off x="640080" y="1691640"/>
            <a:ext cx="91440" cy="224028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914400" y="18745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Analyst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914400" y="219456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Tactician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914400" y="2743200"/>
            <a:ext cx="3200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Combat timing, crit chance, burst behavior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4480560" y="1691640"/>
            <a:ext cx="3657600" cy="2240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"/>
          <p:cNvSpPr/>
          <p:nvPr/>
        </p:nvSpPr>
        <p:spPr>
          <a:xfrm>
            <a:off x="4480560" y="1691640"/>
            <a:ext cx="91440" cy="224028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4754880" y="18745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Analyst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4754880" y="219456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Pathfinder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4754880" y="2743200"/>
            <a:ext cx="3200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Movement: speed, flanking, retreat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8321040" y="1691640"/>
            <a:ext cx="3657600" cy="2240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8321040" y="1691640"/>
            <a:ext cx="91440" cy="224028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2"/>
          <p:cNvSpPr/>
          <p:nvPr/>
        </p:nvSpPr>
        <p:spPr>
          <a:xfrm>
            <a:off x="8595360" y="18745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Analyst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8595360" y="219456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Predictor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8595360" y="2743200"/>
            <a:ext cx="3200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Models player behavior, suggests counters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640080" y="4114800"/>
            <a:ext cx="3657600" cy="2240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640080" y="4114800"/>
            <a:ext cx="91440" cy="224028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"/>
          <p:cNvSpPr/>
          <p:nvPr/>
        </p:nvSpPr>
        <p:spPr>
          <a:xfrm>
            <a:off x="914400" y="42976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Analyst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914400" y="461772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Historian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914400" y="5166360"/>
            <a:ext cx="3200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Reviews past episodes, identifies patterns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4480560" y="4114800"/>
            <a:ext cx="3657600" cy="2240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"/>
          <p:cNvSpPr/>
          <p:nvPr/>
        </p:nvSpPr>
        <p:spPr>
          <a:xfrm>
            <a:off x="4480560" y="4114800"/>
            <a:ext cx="91440" cy="224028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4754880" y="42976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Coordinator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4754880" y="461772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Navigator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4754880" y="5166360"/>
            <a:ext cx="3200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Picks best changes, decides when to stop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8321040" y="4114800"/>
            <a:ext cx="3657600" cy="2240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8321040" y="4114800"/>
            <a:ext cx="91440" cy="224028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"/>
          <p:cNvSpPr/>
          <p:nvPr/>
        </p:nvSpPr>
        <p:spPr>
          <a:xfrm>
            <a:off x="8595360" y="42976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Coordinator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8595360" y="461772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Critic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8595360" y="5166360"/>
            <a:ext cx="3200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Validates each Navigator decision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Analysts and Navigator: Grok-3 via xAI. Critics: same. All run in parallel via Ray.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"/>
          <p:cNvSpPr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The result: 8% → 92% in five rounds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This is what self-improvement looks like — including the dip in Round 2.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earning_curve.png" id="259" name="Google Shape;25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63040"/>
            <a:ext cx="86868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3"/>
          <p:cNvSpPr/>
          <p:nvPr/>
        </p:nvSpPr>
        <p:spPr>
          <a:xfrm>
            <a:off x="9509760" y="1463040"/>
            <a:ext cx="2377440" cy="5120640"/>
          </a:xfrm>
          <a:prstGeom prst="rect">
            <a:avLst/>
          </a:prstGeom>
          <a:solidFill>
            <a:srgbClr val="E8F1F5"/>
          </a:solidFill>
          <a:ln cap="flat" cmpd="sng" w="12700">
            <a:solidFill>
              <a:srgbClr val="E8F1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9692640" y="16459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Trajectory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9692640" y="2103120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R0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10287000" y="2103120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8%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9692640" y="2432304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9692640" y="2816352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R1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10287000" y="2816352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8%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9692640" y="3145536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flat — no critical params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9692640" y="3529584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R2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10287000" y="3529584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9692640" y="385876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regression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9692640" y="4242816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R3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10287000" y="4242816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8%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9692640" y="4572000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recovery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9692640" y="4956048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R4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10287000" y="4956048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92%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9692640" y="528523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breakthrough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9692640" y="5669280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R5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10287000" y="5669280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92%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9692640" y="5998464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converged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"/>
          <p:cNvSpPr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The agent network behind the curve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Every node is an LLM call. Every edge is a piece of information flowing between agents.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gent_graph.png" id="287" name="Google Shape;28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63040"/>
            <a:ext cx="8595360" cy="493776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4"/>
          <p:cNvSpPr/>
          <p:nvPr/>
        </p:nvSpPr>
        <p:spPr>
          <a:xfrm>
            <a:off x="9418320" y="1463040"/>
            <a:ext cx="2468880" cy="4937760"/>
          </a:xfrm>
          <a:prstGeom prst="rect">
            <a:avLst/>
          </a:prstGeom>
          <a:solidFill>
            <a:srgbClr val="E8F1F5"/>
          </a:solidFill>
          <a:ln cap="flat" cmpd="sng" w="12700">
            <a:solidFill>
              <a:srgbClr val="E8F1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4"/>
          <p:cNvSpPr/>
          <p:nvPr/>
        </p:nvSpPr>
        <p:spPr>
          <a:xfrm>
            <a:off x="9601200" y="16459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By the numbers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9601200" y="214884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10378440" y="2194560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analyst calls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10378440" y="2496312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4 agents × 5 rounds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9601200" y="2990088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10378440" y="3035808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Navigator decisions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10378440" y="3337560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1 per round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9601200" y="3831336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10378440" y="3877056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critic validations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10378440" y="4178808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1 per applied change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9601200" y="4672584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10378440" y="4718304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GameEnv evaluations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10378440" y="5020056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baseline + 5 rounds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9601200" y="5513832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10378440" y="5559552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final report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10378440" y="5861304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synthesis at 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~39 LLM calls total — orchestrated declaratively, run in parallel via Ray, completed in 112 seconds.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5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What the curve actually shows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640080" y="100584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The dip is the most important data point.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640080" y="1691640"/>
            <a:ext cx="3703320" cy="4754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5"/>
          <p:cNvSpPr/>
          <p:nvPr/>
        </p:nvSpPr>
        <p:spPr>
          <a:xfrm>
            <a:off x="640080" y="1691640"/>
            <a:ext cx="3703320" cy="365760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914400" y="1737360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mistake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914400" y="2286000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Round 2: regression to 0%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914400" y="3200400"/>
            <a:ext cx="315468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Navigator proposed two parameter changes. A critic deferred one (citing attribution risk). The remaining change made things worse — flank_weight matters less than burst_threshold on a corridor map.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4507992" y="1691640"/>
            <a:ext cx="3703320" cy="4754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5"/>
          <p:cNvSpPr/>
          <p:nvPr/>
        </p:nvSpPr>
        <p:spPr>
          <a:xfrm>
            <a:off x="4507992" y="1691640"/>
            <a:ext cx="3703320" cy="36576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5"/>
          <p:cNvSpPr/>
          <p:nvPr/>
        </p:nvSpPr>
        <p:spPr>
          <a:xfrm>
            <a:off x="4782312" y="1737360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recovery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5"/>
          <p:cNvSpPr/>
          <p:nvPr/>
        </p:nvSpPr>
        <p:spPr>
          <a:xfrm>
            <a:off x="4782312" y="2286000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Round 3: self-correction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4782312" y="3200400"/>
            <a:ext cx="315468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Navigator proposed exactly ONE change (speed=2). Single critic approved cleanly. Win rate recovered to baseline. The agents had visibility into prior deferrals and adapted.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8375904" y="1691640"/>
            <a:ext cx="3703320" cy="4754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5"/>
          <p:cNvSpPr/>
          <p:nvPr/>
        </p:nvSpPr>
        <p:spPr>
          <a:xfrm>
            <a:off x="8375904" y="1691640"/>
            <a:ext cx="3703320" cy="365760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5"/>
          <p:cNvSpPr/>
          <p:nvPr/>
        </p:nvSpPr>
        <p:spPr>
          <a:xfrm>
            <a:off x="8650224" y="1737360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win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8650224" y="2286000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Round 4: breakthrough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8650224" y="3200400"/>
            <a:ext cx="315468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Single change again (attack_bonus=5). Win rate jumped 8% → 92%. Clean attribution: one variable changed, dramatic effect, no ambiguity about what caused it.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1F5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6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Why the dip matters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640080" y="1280160"/>
            <a:ext cx="1097280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6"/>
          <p:cNvSpPr/>
          <p:nvPr/>
        </p:nvSpPr>
        <p:spPr>
          <a:xfrm>
            <a:off x="640080" y="1280160"/>
            <a:ext cx="109728" cy="146304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6"/>
          <p:cNvSpPr/>
          <p:nvPr/>
        </p:nvSpPr>
        <p:spPr>
          <a:xfrm>
            <a:off x="1005840" y="1508760"/>
            <a:ext cx="10424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00"/>
              <a:buFont typeface="Georgia"/>
              <a:buNone/>
            </a:pPr>
            <a:r>
              <a:rPr b="0" i="0" lang="en-US" sz="19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Earlier runs converged in two rounds with a clean monotonic curve.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00"/>
              <a:buFont typeface="Georgia"/>
              <a:buNone/>
            </a:pPr>
            <a:r>
              <a:rPr b="0" i="0" lang="en-US" sz="19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Pretty for a slide. </a:t>
            </a:r>
            <a:r>
              <a:rPr b="1" i="0" lang="en-US" sz="1900" u="none" cap="none" strike="noStrike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rPr>
              <a:t>But it didn't show the framework actually doing anything beyond aggregating suggestions.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6"/>
          <p:cNvSpPr/>
          <p:nvPr/>
        </p:nvSpPr>
        <p:spPr>
          <a:xfrm>
            <a:off x="640080" y="3108960"/>
            <a:ext cx="544068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6"/>
          <p:cNvSpPr/>
          <p:nvPr/>
        </p:nvSpPr>
        <p:spPr>
          <a:xfrm>
            <a:off x="868680" y="3383280"/>
            <a:ext cx="5074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Monotonic 8% → 92% → 100%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868680" y="3886200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Demo material — looks great in a graph.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6"/>
          <p:cNvSpPr/>
          <p:nvPr/>
        </p:nvSpPr>
        <p:spPr>
          <a:xfrm>
            <a:off x="868680" y="4434840"/>
            <a:ext cx="50749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✗ </a:t>
            </a: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Doesn't exercise critic deferral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76F5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✗ </a:t>
            </a: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Doesn't show recovery from a wrong call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76F5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✗ </a:t>
            </a: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Looks like the framework just got lucky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/>
          <p:nvPr/>
        </p:nvSpPr>
        <p:spPr>
          <a:xfrm>
            <a:off x="6446520" y="3108960"/>
            <a:ext cx="5440680" cy="329184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6"/>
          <p:cNvSpPr/>
          <p:nvPr/>
        </p:nvSpPr>
        <p:spPr>
          <a:xfrm>
            <a:off x="6720840" y="3383280"/>
            <a:ext cx="5074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Non-monotonic 8% → 0% → 92%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/>
          <p:nvPr/>
        </p:nvSpPr>
        <p:spPr>
          <a:xfrm>
            <a:off x="6720840" y="3886200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E0F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FE0F5"/>
                </a:solidFill>
                <a:latin typeface="Calibri"/>
                <a:ea typeface="Calibri"/>
                <a:cs typeface="Calibri"/>
                <a:sym typeface="Calibri"/>
              </a:rPr>
              <a:t>Honest material — demonstrates the value-add.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/>
          <p:nvPr/>
        </p:nvSpPr>
        <p:spPr>
          <a:xfrm>
            <a:off x="6720840" y="4434840"/>
            <a:ext cx="50749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b="0" i="0" lang="en-US" sz="1400" u="none" cap="none" strike="noStrike">
                <a:solidFill>
                  <a:srgbClr val="DCE7F0"/>
                </a:solidFill>
                <a:latin typeface="Calibri"/>
                <a:ea typeface="Calibri"/>
                <a:cs typeface="Calibri"/>
                <a:sym typeface="Calibri"/>
              </a:rPr>
              <a:t>Critic deferral mechanism actually fired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A9D8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b="0" i="0" lang="en-US" sz="1400" u="none" cap="none" strike="noStrike">
                <a:solidFill>
                  <a:srgbClr val="DCE7F0"/>
                </a:solidFill>
                <a:latin typeface="Calibri"/>
                <a:ea typeface="Calibri"/>
                <a:cs typeface="Calibri"/>
                <a:sym typeface="Calibri"/>
              </a:rPr>
              <a:t>Navigator self-limited to 1 change after deferral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A9D8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b="0" i="0" lang="en-US" sz="1400" u="none" cap="none" strike="noStrike">
                <a:solidFill>
                  <a:srgbClr val="DCE7F0"/>
                </a:solidFill>
                <a:latin typeface="Calibri"/>
                <a:ea typeface="Calibri"/>
                <a:cs typeface="Calibri"/>
                <a:sym typeface="Calibri"/>
              </a:rPr>
              <a:t>Clean attribution: each change tied to its outcome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7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Key insight #1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640080" y="914400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Disagreement is the signal, not the bug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640080" y="2011680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When the four analysts proposed conflicting parameter changes, the Navigator picked the highest-leverage one based on cross-agent agreement. When critics disagreed with the Navigator, overrides got applied. The whole framework runs on disagreement.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7"/>
          <p:cNvSpPr/>
          <p:nvPr/>
        </p:nvSpPr>
        <p:spPr>
          <a:xfrm>
            <a:off x="640080" y="3383280"/>
            <a:ext cx="5440680" cy="2743200"/>
          </a:xfrm>
          <a:prstGeom prst="rect">
            <a:avLst/>
          </a:prstGeom>
          <a:solidFill>
            <a:srgbClr val="E8F1F5"/>
          </a:solidFill>
          <a:ln cap="flat" cmpd="sng" w="12700">
            <a:solidFill>
              <a:srgbClr val="E8F1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7"/>
          <p:cNvSpPr/>
          <p:nvPr/>
        </p:nvSpPr>
        <p:spPr>
          <a:xfrm>
            <a:off x="914400" y="3657600"/>
            <a:ext cx="5074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Round 1 in the actual run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914400" y="4160520"/>
            <a:ext cx="50749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Tactician: </a:t>
            </a:r>
            <a:r>
              <a:rPr b="0" i="0" lang="en-US" sz="13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crit_chance + burst_threshold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Pathfinder: </a:t>
            </a:r>
            <a:r>
              <a:rPr b="0" i="0" lang="en-US" sz="13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flank_weight + burst_threshold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Predictor: </a:t>
            </a:r>
            <a:r>
              <a:rPr b="0" i="0" lang="en-US" sz="13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speed + crit_chance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Historian: </a:t>
            </a:r>
            <a:r>
              <a:rPr b="0" i="0" lang="en-US" sz="13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attack_bonus + flank_weight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Consolas"/>
              <a:buNone/>
            </a:pPr>
            <a:r>
              <a:rPr b="0" i="0" lang="en-US" sz="6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Navigator picked: crit_chance, burst_threshold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7"/>
          <p:cNvSpPr/>
          <p:nvPr/>
        </p:nvSpPr>
        <p:spPr>
          <a:xfrm>
            <a:off x="6446520" y="3383280"/>
            <a:ext cx="5440680" cy="2743200"/>
          </a:xfrm>
          <a:prstGeom prst="rect">
            <a:avLst/>
          </a:prstGeom>
          <a:solidFill>
            <a:srgbClr val="E8F1F5"/>
          </a:solidFill>
          <a:ln cap="flat" cmpd="sng" w="12700">
            <a:solidFill>
              <a:srgbClr val="E8F1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7"/>
          <p:cNvSpPr/>
          <p:nvPr/>
        </p:nvSpPr>
        <p:spPr>
          <a:xfrm>
            <a:off x="6720840" y="3657600"/>
            <a:ext cx="5074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Why those two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6720840" y="4160520"/>
            <a:ext cx="50749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crit_chance was supported by Tactician AND Predictor AND Historian — strong cross-agent signal. burst_threshold was supported by Tactician AND Pathfinder. The Navigator's job was synthesis, not aggregation; it picked the changes that emerged from multiple independent perspectives.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8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Key insight #2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640080" y="914400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Critics need leverage, not just opinions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8"/>
          <p:cNvSpPr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 early versions, critics could only override values — they could say "reduce crit_chance from 0.30 to 0.25" but they couldn't say "don't apply this change at all." That changed.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640080" y="3200400"/>
            <a:ext cx="3703320" cy="3108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8"/>
          <p:cNvSpPr/>
          <p:nvPr/>
        </p:nvSpPr>
        <p:spPr>
          <a:xfrm>
            <a:off x="640080" y="3200400"/>
            <a:ext cx="3703320" cy="457200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8"/>
          <p:cNvSpPr/>
          <p:nvPr/>
        </p:nvSpPr>
        <p:spPr>
          <a:xfrm>
            <a:off x="914400" y="3264408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914400" y="388620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C6B7A"/>
                </a:solidFill>
                <a:latin typeface="Consolas"/>
                <a:ea typeface="Consolas"/>
                <a:cs typeface="Consolas"/>
                <a:sym typeface="Consolas"/>
              </a:rPr>
              <a:t>verdict: approve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914400" y="4389120"/>
            <a:ext cx="31546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Change lands as proposed. Used when the change is well-reasoned and isolated.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/>
          <p:nvPr/>
        </p:nvSpPr>
        <p:spPr>
          <a:xfrm>
            <a:off x="4507992" y="3200400"/>
            <a:ext cx="3703320" cy="3108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8"/>
          <p:cNvSpPr/>
          <p:nvPr/>
        </p:nvSpPr>
        <p:spPr>
          <a:xfrm>
            <a:off x="4507992" y="3200400"/>
            <a:ext cx="3703320" cy="4572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8"/>
          <p:cNvSpPr/>
          <p:nvPr/>
        </p:nvSpPr>
        <p:spPr>
          <a:xfrm>
            <a:off x="4782312" y="3264408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Modify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8"/>
          <p:cNvSpPr/>
          <p:nvPr/>
        </p:nvSpPr>
        <p:spPr>
          <a:xfrm>
            <a:off x="4782312" y="388620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C6B7A"/>
                </a:solidFill>
                <a:latin typeface="Consolas"/>
                <a:ea typeface="Consolas"/>
                <a:cs typeface="Consolas"/>
                <a:sym typeface="Consolas"/>
              </a:rPr>
              <a:t>verdict: modify + override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8"/>
          <p:cNvSpPr/>
          <p:nvPr/>
        </p:nvSpPr>
        <p:spPr>
          <a:xfrm>
            <a:off x="4782312" y="4389120"/>
            <a:ext cx="31546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Change lands with a substituted value. Used when the direction is right but the magnitude is risky.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8"/>
          <p:cNvSpPr/>
          <p:nvPr/>
        </p:nvSpPr>
        <p:spPr>
          <a:xfrm>
            <a:off x="8375904" y="3200400"/>
            <a:ext cx="3703320" cy="3108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D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8"/>
          <p:cNvSpPr/>
          <p:nvPr/>
        </p:nvSpPr>
        <p:spPr>
          <a:xfrm>
            <a:off x="8375904" y="3200400"/>
            <a:ext cx="3703320" cy="457200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8"/>
          <p:cNvSpPr/>
          <p:nvPr/>
        </p:nvSpPr>
        <p:spPr>
          <a:xfrm>
            <a:off x="8650224" y="3264408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8"/>
          <p:cNvSpPr/>
          <p:nvPr/>
        </p:nvSpPr>
        <p:spPr>
          <a:xfrm>
            <a:off x="8650224" y="388620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C6B7A"/>
                </a:solidFill>
                <a:latin typeface="Consolas"/>
                <a:ea typeface="Consolas"/>
                <a:cs typeface="Consolas"/>
                <a:sym typeface="Consolas"/>
              </a:rPr>
              <a:t>verdict: modify [DEFER]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8"/>
          <p:cNvSpPr/>
          <p:nvPr/>
        </p:nvSpPr>
        <p:spPr>
          <a:xfrm>
            <a:off x="8650224" y="4389120"/>
            <a:ext cx="31546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Change is dropped from this round. Used when too many parameters change simultaneously and attribution becomes impossible.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9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Key insight #3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9"/>
          <p:cNvSpPr/>
          <p:nvPr/>
        </p:nvSpPr>
        <p:spPr>
          <a:xfrm>
            <a:off x="640080" y="914400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Feedback loops have to actually close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9"/>
          <p:cNvSpPr/>
          <p:nvPr/>
        </p:nvSpPr>
        <p:spPr>
          <a:xfrm>
            <a:off x="640080" y="201168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 an earlier iteration, every critic flagged "attribution risk" — but the Navigator never saw those flags, so it kept proposing the same 3-change batches every round. The system stalled for 7 straight rounds with zero improvement.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9"/>
          <p:cNvSpPr/>
          <p:nvPr/>
        </p:nvSpPr>
        <p:spPr>
          <a:xfrm>
            <a:off x="640080" y="3520440"/>
            <a:ext cx="5440680" cy="2743200"/>
          </a:xfrm>
          <a:prstGeom prst="rect">
            <a:avLst/>
          </a:prstGeom>
          <a:solidFill>
            <a:srgbClr val="E8F1F5"/>
          </a:solidFill>
          <a:ln cap="flat" cmpd="sng" w="12700">
            <a:solidFill>
              <a:srgbClr val="E8F1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1" name="Google Shape;39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7947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9"/>
          <p:cNvSpPr/>
          <p:nvPr/>
        </p:nvSpPr>
        <p:spPr>
          <a:xfrm>
            <a:off x="1508760" y="3794760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Before: open loop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9"/>
          <p:cNvSpPr/>
          <p:nvPr/>
        </p:nvSpPr>
        <p:spPr>
          <a:xfrm>
            <a:off x="914400" y="4434840"/>
            <a:ext cx="48920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Critics flagged risk. Navigator didn't read those flags. Navigator kept proposing the same 3-change batches. Critics kept flagging them. 7 rounds, 0% progress, full stalemate.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9"/>
          <p:cNvSpPr/>
          <p:nvPr/>
        </p:nvSpPr>
        <p:spPr>
          <a:xfrm>
            <a:off x="6446520" y="3520440"/>
            <a:ext cx="5440680" cy="27432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5" name="Google Shape;39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0840" y="37947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9"/>
          <p:cNvSpPr/>
          <p:nvPr/>
        </p:nvSpPr>
        <p:spPr>
          <a:xfrm>
            <a:off x="7315200" y="3794760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After: closed loop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9"/>
          <p:cNvSpPr/>
          <p:nvPr/>
        </p:nvSpPr>
        <p:spPr>
          <a:xfrm>
            <a:off x="6720840" y="4434840"/>
            <a:ext cx="48920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7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CE7F0"/>
                </a:solidFill>
                <a:latin typeface="Calibri"/>
                <a:ea typeface="Calibri"/>
                <a:cs typeface="Calibri"/>
                <a:sym typeface="Calibri"/>
              </a:rPr>
              <a:t>Deferral history is now passed to the Navigator. When critics defer, the Navigator sees it next round and self-limits to 1 change. Stalemate impossible.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Honest framing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0"/>
          <p:cNvSpPr/>
          <p:nvPr/>
        </p:nvSpPr>
        <p:spPr>
          <a:xfrm>
            <a:off x="640080" y="100584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What this framework is — and what it isn't.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0"/>
          <p:cNvSpPr/>
          <p:nvPr/>
        </p:nvSpPr>
        <p:spPr>
          <a:xfrm>
            <a:off x="640080" y="1691640"/>
            <a:ext cx="5440680" cy="4754880"/>
          </a:xfrm>
          <a:prstGeom prst="rect">
            <a:avLst/>
          </a:prstGeom>
          <a:solidFill>
            <a:srgbClr val="EAF7EE"/>
          </a:solidFill>
          <a:ln cap="flat" cmpd="sng" w="12700">
            <a:solidFill>
              <a:srgbClr val="EAF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0"/>
          <p:cNvSpPr/>
          <p:nvPr/>
        </p:nvSpPr>
        <p:spPr>
          <a:xfrm>
            <a:off x="914400" y="1965960"/>
            <a:ext cx="5074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It IS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0"/>
          <p:cNvSpPr/>
          <p:nvPr/>
        </p:nvSpPr>
        <p:spPr>
          <a:xfrm>
            <a:off x="914400" y="2606040"/>
            <a:ext cx="50749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 educational framework for exploring agentic + parallel computing patterns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A9D8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demonstration that the Reflexion pattern works on real (non-toy) workloads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A9D8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clean starting point for anyone wanting to build agentic + Ray + structured-JSON systems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A9D8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Domain-grounded — Stim quantum simulations, not chat-with-Wikipedia toys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0"/>
          <p:cNvSpPr/>
          <p:nvPr/>
        </p:nvSpPr>
        <p:spPr>
          <a:xfrm>
            <a:off x="6446520" y="1691640"/>
            <a:ext cx="5440680" cy="4754880"/>
          </a:xfrm>
          <a:prstGeom prst="rect">
            <a:avLst/>
          </a:prstGeom>
          <a:solidFill>
            <a:srgbClr val="FCE9E5"/>
          </a:solidFill>
          <a:ln cap="flat" cmpd="sng" w="12700">
            <a:solidFill>
              <a:srgbClr val="FCE9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0"/>
          <p:cNvSpPr/>
          <p:nvPr/>
        </p:nvSpPr>
        <p:spPr>
          <a:xfrm>
            <a:off x="6720840" y="1965960"/>
            <a:ext cx="5074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It is NOT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0"/>
          <p:cNvSpPr/>
          <p:nvPr/>
        </p:nvSpPr>
        <p:spPr>
          <a:xfrm>
            <a:off x="6720840" y="2606040"/>
            <a:ext cx="50749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✗ </a:t>
            </a: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replacement for Bayesian optimization or other classical methods on well-defined problems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76F5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✗ </a:t>
            </a: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production system at CERN/Fermilab scale — built by one person with heavy AI assistance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76F5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✗ </a:t>
            </a: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playable game (example 11 is a synthetic combat benchmark, not a real-time game)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76F5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✗ </a:t>
            </a: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Sample-efficient — LLM API calls are slow and expensive vs. numerical optimizers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1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Compared to other agentic frameworks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1"/>
          <p:cNvSpPr/>
          <p:nvPr/>
        </p:nvSpPr>
        <p:spPr>
          <a:xfrm>
            <a:off x="640080" y="105156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Most frameworks have some Reflexion. Few combine it with multiple backends + real domain grounding.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8" name="Google Shape;418;p21"/>
          <p:cNvGraphicFramePr/>
          <p:nvPr/>
        </p:nvGraphicFramePr>
        <p:xfrm>
          <a:off x="64008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{464B2742-7309-40EC-9930-B529214D8FA5}</a:tableStyleId>
              </a:tblPr>
              <a:tblGrid>
                <a:gridCol w="2743200"/>
                <a:gridCol w="1874525"/>
                <a:gridCol w="1874525"/>
                <a:gridCol w="1874525"/>
                <a:gridCol w="2606050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LangGraph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CrewAI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AutoGen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ReflectionAgents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Declarative DSL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6B7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Imperative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6B7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Imperative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6B7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Imperative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A9D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1F5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Reflection as primitive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6B7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Plugin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6B7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Plugin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6B7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Plugin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A9D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1F5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Native parallelism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6B7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Limited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6B7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Limited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6B7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Limited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A9D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Ray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1F5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Multiple backends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6B7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Single-node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6B7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Single-node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6B7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Single-node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A9D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CPU/GPU/Ray/CSL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1F5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Domain grounding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6B7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Generic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6B7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Generic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6B7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Generic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A9D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Stim physics + game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1F5"/>
                    </a:solidFill>
                  </a:tcPr>
                </a:tc>
              </a:tr>
            </a:tbl>
          </a:graphicData>
        </a:graphic>
      </p:graphicFrame>
      <p:sp>
        <p:nvSpPr>
          <p:cNvPr id="419" name="Google Shape;419;p21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Where ReflectionAgents differs: declarative + reflective + parallel + multi-backend in one place.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2"/>
          <p:cNvSpPr/>
          <p:nvPr/>
        </p:nvSpPr>
        <p:spPr>
          <a:xfrm>
            <a:off x="777240" y="5486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Takeaways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2"/>
          <p:cNvSpPr/>
          <p:nvPr/>
        </p:nvSpPr>
        <p:spPr>
          <a:xfrm>
            <a:off x="777240" y="1554480"/>
            <a:ext cx="777240" cy="777240"/>
          </a:xfrm>
          <a:prstGeom prst="ellipse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2"/>
          <p:cNvSpPr/>
          <p:nvPr/>
        </p:nvSpPr>
        <p:spPr>
          <a:xfrm>
            <a:off x="777240" y="1719072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2"/>
          <p:cNvSpPr/>
          <p:nvPr/>
        </p:nvSpPr>
        <p:spPr>
          <a:xfrm>
            <a:off x="1783080" y="155448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Reflection is no longer experimental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2"/>
          <p:cNvSpPr/>
          <p:nvPr/>
        </p:nvSpPr>
        <p:spPr>
          <a:xfrm>
            <a:off x="1783080" y="1965960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C0D5"/>
                </a:solidFill>
                <a:latin typeface="Calibri"/>
                <a:ea typeface="Calibri"/>
                <a:cs typeface="Calibri"/>
                <a:sym typeface="Calibri"/>
              </a:rPr>
              <a:t>By 2026, every major agentic framework has Reflexion built in. The pattern is now standard practice for serious agent design.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2"/>
          <p:cNvSpPr/>
          <p:nvPr/>
        </p:nvSpPr>
        <p:spPr>
          <a:xfrm>
            <a:off x="777240" y="2743200"/>
            <a:ext cx="777240" cy="777240"/>
          </a:xfrm>
          <a:prstGeom prst="ellipse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2"/>
          <p:cNvSpPr/>
          <p:nvPr/>
        </p:nvSpPr>
        <p:spPr>
          <a:xfrm>
            <a:off x="777240" y="2907792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2"/>
          <p:cNvSpPr/>
          <p:nvPr/>
        </p:nvSpPr>
        <p:spPr>
          <a:xfrm>
            <a:off x="1783080" y="274320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framework actually self-corrects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2"/>
          <p:cNvSpPr/>
          <p:nvPr/>
        </p:nvSpPr>
        <p:spPr>
          <a:xfrm>
            <a:off x="1783080" y="3154680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C0D5"/>
                </a:solidFill>
                <a:latin typeface="Calibri"/>
                <a:ea typeface="Calibri"/>
                <a:cs typeface="Calibri"/>
                <a:sym typeface="Calibri"/>
              </a:rPr>
              <a:t>Five rounds, one regression, four parameter changes, clean attribution. The dip in Round 2 isn't a failure — it's evidence the system is exploring rather than memorizing.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2"/>
          <p:cNvSpPr/>
          <p:nvPr/>
        </p:nvSpPr>
        <p:spPr>
          <a:xfrm>
            <a:off x="777240" y="3931920"/>
            <a:ext cx="777240" cy="777240"/>
          </a:xfrm>
          <a:prstGeom prst="ellipse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2"/>
          <p:cNvSpPr/>
          <p:nvPr/>
        </p:nvSpPr>
        <p:spPr>
          <a:xfrm>
            <a:off x="777240" y="4096512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1783080" y="393192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Closed feedback loops matter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2"/>
          <p:cNvSpPr/>
          <p:nvPr/>
        </p:nvSpPr>
        <p:spPr>
          <a:xfrm>
            <a:off x="1783080" y="4343400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C0D5"/>
                </a:solidFill>
                <a:latin typeface="Calibri"/>
                <a:ea typeface="Calibri"/>
                <a:cs typeface="Calibri"/>
                <a:sym typeface="Calibri"/>
              </a:rPr>
              <a:t>Critics who flag risk without affecting decisions are theatre. The structural fixes — deferral history feeding back to Navigator — are what made the framework work.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2"/>
          <p:cNvSpPr/>
          <p:nvPr/>
        </p:nvSpPr>
        <p:spPr>
          <a:xfrm>
            <a:off x="777240" y="5120640"/>
            <a:ext cx="777240" cy="777240"/>
          </a:xfrm>
          <a:prstGeom prst="ellipse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777240" y="5285232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2"/>
          <p:cNvSpPr/>
          <p:nvPr/>
        </p:nvSpPr>
        <p:spPr>
          <a:xfrm>
            <a:off x="1783080" y="512064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fit: exploratory science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2"/>
          <p:cNvSpPr/>
          <p:nvPr/>
        </p:nvSpPr>
        <p:spPr>
          <a:xfrm>
            <a:off x="1783080" y="5532120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C0D5"/>
                </a:solidFill>
                <a:latin typeface="Calibri"/>
                <a:ea typeface="Calibri"/>
                <a:cs typeface="Calibri"/>
                <a:sym typeface="Calibri"/>
              </a:rPr>
              <a:t>Where understanding why matters as much as the answer itself. Quantum error correction, drug discovery, scheduling, biology. Not where pure sample efficiency wins.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1F5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3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Backup material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3"/>
          <p:cNvSpPr/>
          <p:nvPr/>
        </p:nvSpPr>
        <p:spPr>
          <a:xfrm>
            <a:off x="640080" y="310896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600"/>
              <a:buFont typeface="Georgia"/>
              <a:buNone/>
            </a:pPr>
            <a:r>
              <a:rPr b="1" i="0" lang="en-US" sz="56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Technical depth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3"/>
          <p:cNvSpPr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Architecture, JSON contracts, Ray 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4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Per-agent JSON contracts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4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Different agent roles return different shapes. The confidence field is the only constant.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4"/>
          <p:cNvSpPr/>
          <p:nvPr/>
        </p:nvSpPr>
        <p:spPr>
          <a:xfrm>
            <a:off x="640080" y="1554480"/>
            <a:ext cx="5486400" cy="2331720"/>
          </a:xfrm>
          <a:prstGeom prst="rect">
            <a:avLst/>
          </a:prstGeom>
          <a:solidFill>
            <a:srgbClr val="21295C"/>
          </a:solidFill>
          <a:ln cap="flat" cmpd="sng" w="1270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4"/>
          <p:cNvSpPr/>
          <p:nvPr/>
        </p:nvSpPr>
        <p:spPr>
          <a:xfrm>
            <a:off x="914400" y="173736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E0F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8FE0F5"/>
                </a:solidFill>
                <a:latin typeface="Calibri"/>
                <a:ea typeface="Calibri"/>
                <a:cs typeface="Calibri"/>
                <a:sym typeface="Calibri"/>
              </a:rPr>
              <a:t>Analyst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4"/>
          <p:cNvSpPr/>
          <p:nvPr/>
        </p:nvSpPr>
        <p:spPr>
          <a:xfrm>
            <a:off x="914400" y="2240280"/>
            <a:ext cx="49377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"analysis":    "&lt;3-5 sentences&gt;",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"suggestions": [...],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"confidence":  0.85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4"/>
          <p:cNvSpPr/>
          <p:nvPr/>
        </p:nvSpPr>
        <p:spPr>
          <a:xfrm>
            <a:off x="6309360" y="1554480"/>
            <a:ext cx="5486400" cy="2331720"/>
          </a:xfrm>
          <a:prstGeom prst="rect">
            <a:avLst/>
          </a:prstGeom>
          <a:solidFill>
            <a:srgbClr val="21295C"/>
          </a:solidFill>
          <a:ln cap="flat" cmpd="sng" w="1270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4"/>
          <p:cNvSpPr/>
          <p:nvPr/>
        </p:nvSpPr>
        <p:spPr>
          <a:xfrm>
            <a:off x="6583680" y="173736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E0F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8FE0F5"/>
                </a:solidFill>
                <a:latin typeface="Calibri"/>
                <a:ea typeface="Calibri"/>
                <a:cs typeface="Calibri"/>
                <a:sym typeface="Calibri"/>
              </a:rPr>
              <a:t>Navigator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4"/>
          <p:cNvSpPr/>
          <p:nvPr/>
        </p:nvSpPr>
        <p:spPr>
          <a:xfrm>
            <a:off x="6583680" y="2240280"/>
            <a:ext cx="49377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"apply":      [{param, new_value, ...}],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"rationale":  "...",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"confidence": 0.85,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"stop":       true | false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4"/>
          <p:cNvSpPr/>
          <p:nvPr/>
        </p:nvSpPr>
        <p:spPr>
          <a:xfrm>
            <a:off x="640080" y="4069080"/>
            <a:ext cx="5486400" cy="2331720"/>
          </a:xfrm>
          <a:prstGeom prst="rect">
            <a:avLst/>
          </a:prstGeom>
          <a:solidFill>
            <a:srgbClr val="21295C"/>
          </a:solidFill>
          <a:ln cap="flat" cmpd="sng" w="1270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4"/>
          <p:cNvSpPr/>
          <p:nvPr/>
        </p:nvSpPr>
        <p:spPr>
          <a:xfrm>
            <a:off x="914400" y="425196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E0F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8FE0F5"/>
                </a:solidFill>
                <a:latin typeface="Calibri"/>
                <a:ea typeface="Calibri"/>
                <a:cs typeface="Calibri"/>
                <a:sym typeface="Calibri"/>
              </a:rPr>
              <a:t>Critic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4"/>
          <p:cNvSpPr/>
          <p:nvPr/>
        </p:nvSpPr>
        <p:spPr>
          <a:xfrm>
            <a:off x="914400" y="4754880"/>
            <a:ext cx="49377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"verdict":  "approve" | "modify" | "reject",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"comment":  "...",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"override": {param, new_value} | null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4"/>
          <p:cNvSpPr/>
          <p:nvPr/>
        </p:nvSpPr>
        <p:spPr>
          <a:xfrm>
            <a:off x="6309360" y="4069080"/>
            <a:ext cx="5486400" cy="2331720"/>
          </a:xfrm>
          <a:prstGeom prst="rect">
            <a:avLst/>
          </a:prstGeom>
          <a:solidFill>
            <a:srgbClr val="21295C"/>
          </a:solidFill>
          <a:ln cap="flat" cmpd="sng" w="1270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4"/>
          <p:cNvSpPr/>
          <p:nvPr/>
        </p:nvSpPr>
        <p:spPr>
          <a:xfrm>
            <a:off x="6583680" y="425196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E0F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8FE0F5"/>
                </a:solidFill>
                <a:latin typeface="Calibri"/>
                <a:ea typeface="Calibri"/>
                <a:cs typeface="Calibri"/>
                <a:sym typeface="Calibri"/>
              </a:rPr>
              <a:t>Synthesizer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4"/>
          <p:cNvSpPr/>
          <p:nvPr/>
        </p:nvSpPr>
        <p:spPr>
          <a:xfrm>
            <a:off x="6583680" y="4754880"/>
            <a:ext cx="49377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"report":          "&lt;full report&gt;",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"biggest_impact":  "...",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"player_weakness": "..."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4"/>
          <p:cNvSpPr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Parsing: every agent strips markdown code fences before json.loads(); fallback to default dict on parse failure.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5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Implementation patterns: Ray remotes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5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Three conventions worth knowing if you extend the framework.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5"/>
          <p:cNvSpPr/>
          <p:nvPr/>
        </p:nvSpPr>
        <p:spPr>
          <a:xfrm>
            <a:off x="640080" y="1691640"/>
            <a:ext cx="109728" cy="132588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5"/>
          <p:cNvSpPr/>
          <p:nvPr/>
        </p:nvSpPr>
        <p:spPr>
          <a:xfrm>
            <a:off x="914400" y="169164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Imports duplicated inside @ray.remote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5"/>
          <p:cNvSpPr/>
          <p:nvPr/>
        </p:nvSpPr>
        <p:spPr>
          <a:xfrm>
            <a:off x="914400" y="214884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Each remote re-imports os, time, json, re, OpenAI. Ray workers don't reliably inherit parent module imports on Replit. Don't "clean this up" — it will break.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5"/>
          <p:cNvSpPr/>
          <p:nvPr/>
        </p:nvSpPr>
        <p:spPr>
          <a:xfrm>
            <a:off x="640080" y="3246120"/>
            <a:ext cx="109728" cy="132588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5"/>
          <p:cNvSpPr/>
          <p:nvPr/>
        </p:nvSpPr>
        <p:spPr>
          <a:xfrm>
            <a:off x="914400" y="324612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Sometimes-Ray-sometimes-not simulations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5"/>
          <p:cNvSpPr/>
          <p:nvPr/>
        </p:nvSpPr>
        <p:spPr>
          <a:xfrm>
            <a:off x="914400" y="370332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Example 09 inlines the Stim simulation inside its Ray remote. Example 10 calls Stim directly outside Ray (because the loop is sequential). Pick the pattern that fits the dispatch.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5"/>
          <p:cNvSpPr/>
          <p:nvPr/>
        </p:nvSpPr>
        <p:spPr>
          <a:xfrm>
            <a:off x="640080" y="4800600"/>
            <a:ext cx="109728" cy="132588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5"/>
          <p:cNvSpPr/>
          <p:nvPr/>
        </p:nvSpPr>
        <p:spPr>
          <a:xfrm>
            <a:off x="914400" y="480060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Module-scope helpers vs inlined code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5"/>
          <p:cNvSpPr/>
          <p:nvPr/>
        </p:nvSpPr>
        <p:spPr>
          <a:xfrm>
            <a:off x="914400" y="52578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_grok_client() and _parse_json() at module scope serve the synchronous main loop. Inside Ray remotes, the same logic is inlined — same reason as #1.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6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README suggestions for Replit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6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Five concrete updates based on the latest run.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6"/>
          <p:cNvSpPr/>
          <p:nvPr/>
        </p:nvSpPr>
        <p:spPr>
          <a:xfrm>
            <a:off x="640080" y="1554480"/>
            <a:ext cx="594360" cy="594360"/>
          </a:xfrm>
          <a:prstGeom prst="ellipse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6"/>
          <p:cNvSpPr/>
          <p:nvPr/>
        </p:nvSpPr>
        <p:spPr>
          <a:xfrm>
            <a:off x="640080" y="1645920"/>
            <a:ext cx="594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6"/>
          <p:cNvSpPr/>
          <p:nvPr/>
        </p:nvSpPr>
        <p:spPr>
          <a:xfrm>
            <a:off x="1417320" y="1554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Use the latest run as the canonical example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6"/>
          <p:cNvSpPr/>
          <p:nvPr/>
        </p:nvSpPr>
        <p:spPr>
          <a:xfrm>
            <a:off x="1417320" y="192024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Add the 8% → 0% → 92% trajectory and the new PNG to the README's example 11 section. The non-monotonic curve tells a more honest story than monotonic ones.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6"/>
          <p:cNvSpPr/>
          <p:nvPr/>
        </p:nvSpPr>
        <p:spPr>
          <a:xfrm>
            <a:off x="640080" y="2514600"/>
            <a:ext cx="594360" cy="594360"/>
          </a:xfrm>
          <a:prstGeom prst="ellipse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6"/>
          <p:cNvSpPr/>
          <p:nvPr/>
        </p:nvSpPr>
        <p:spPr>
          <a:xfrm>
            <a:off x="640080" y="2606040"/>
            <a:ext cx="594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6"/>
          <p:cNvSpPr/>
          <p:nvPr/>
        </p:nvSpPr>
        <p:spPr>
          <a:xfrm>
            <a:off x="1417320" y="25146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Document the critic's three modes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6"/>
          <p:cNvSpPr/>
          <p:nvPr/>
        </p:nvSpPr>
        <p:spPr>
          <a:xfrm>
            <a:off x="1417320" y="28803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Approve, modify-with-override, defer. The README currently only describes generic critic-as-validator. The three-mode taxonomy is what makes the run trajectory legible.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6"/>
          <p:cNvSpPr/>
          <p:nvPr/>
        </p:nvSpPr>
        <p:spPr>
          <a:xfrm>
            <a:off x="640080" y="3474720"/>
            <a:ext cx="594360" cy="594360"/>
          </a:xfrm>
          <a:prstGeom prst="ellipse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6"/>
          <p:cNvSpPr/>
          <p:nvPr/>
        </p:nvSpPr>
        <p:spPr>
          <a:xfrm>
            <a:off x="640080" y="3566160"/>
            <a:ext cx="594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6"/>
          <p:cNvSpPr/>
          <p:nvPr/>
        </p:nvSpPr>
        <p:spPr>
          <a:xfrm>
            <a:off x="1417320" y="34747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Add an attribution-clarity section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6"/>
          <p:cNvSpPr/>
          <p:nvPr/>
        </p:nvSpPr>
        <p:spPr>
          <a:xfrm>
            <a:off x="1417320" y="384048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Why single-change rounds matter. Right now the README says "reflection improves output" — which is fine but generic. The attribution-discipline angle is more specific to what the framework actually contributes.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6"/>
          <p:cNvSpPr/>
          <p:nvPr/>
        </p:nvSpPr>
        <p:spPr>
          <a:xfrm>
            <a:off x="640080" y="4434840"/>
            <a:ext cx="594360" cy="594360"/>
          </a:xfrm>
          <a:prstGeom prst="ellipse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6"/>
          <p:cNvSpPr/>
          <p:nvPr/>
        </p:nvSpPr>
        <p:spPr>
          <a:xfrm>
            <a:off x="640080" y="4526280"/>
            <a:ext cx="594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6"/>
          <p:cNvSpPr/>
          <p:nvPr/>
        </p:nvSpPr>
        <p:spPr>
          <a:xfrm>
            <a:off x="1417320" y="44348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Update example 11 numbers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6"/>
          <p:cNvSpPr/>
          <p:nvPr/>
        </p:nvSpPr>
        <p:spPr>
          <a:xfrm>
            <a:off x="1417320" y="480060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Current README claims ~100% win rate at convergence. Add a "typical run" table showing 5-round trajectories with regression possible, since LLM stochasticity makes the path non-deterministic.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6"/>
          <p:cNvSpPr/>
          <p:nvPr/>
        </p:nvSpPr>
        <p:spPr>
          <a:xfrm>
            <a:off x="640080" y="5394960"/>
            <a:ext cx="594360" cy="594360"/>
          </a:xfrm>
          <a:prstGeom prst="ellipse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6"/>
          <p:cNvSpPr/>
          <p:nvPr/>
        </p:nvSpPr>
        <p:spPr>
          <a:xfrm>
            <a:off x="640080" y="5486400"/>
            <a:ext cx="594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6"/>
          <p:cNvSpPr/>
          <p:nvPr/>
        </p:nvSpPr>
        <p:spPr>
          <a:xfrm>
            <a:off x="1417320" y="53949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Honest framing of game scope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6"/>
          <p:cNvSpPr/>
          <p:nvPr/>
        </p:nvSpPr>
        <p:spPr>
          <a:xfrm>
            <a:off x="1417320" y="576072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The README sometimes implies a playable 2D game. It's a synthetic combat benchmark. Be explicit: "policy parameter optimization on a corridor dungeon simulator, not a playable game."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7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7"/>
          <p:cNvSpPr/>
          <p:nvPr/>
        </p:nvSpPr>
        <p:spPr>
          <a:xfrm>
            <a:off x="777240" y="12801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E0F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8FE0F5"/>
                </a:solidFill>
                <a:latin typeface="Calibri"/>
                <a:ea typeface="Calibri"/>
                <a:cs typeface="Calibri"/>
                <a:sym typeface="Calibri"/>
              </a:rPr>
              <a:t>Resources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7"/>
          <p:cNvSpPr/>
          <p:nvPr/>
        </p:nvSpPr>
        <p:spPr>
          <a:xfrm>
            <a:off x="777240" y="18288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Try it yourself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7"/>
          <p:cNvSpPr/>
          <p:nvPr/>
        </p:nvSpPr>
        <p:spPr>
          <a:xfrm>
            <a:off x="777240" y="33832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5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EC0D5"/>
                </a:solidFill>
                <a:latin typeface="Calibri"/>
                <a:ea typeface="Calibri"/>
                <a:cs typeface="Calibri"/>
                <a:sym typeface="Calibri"/>
              </a:rPr>
              <a:t>Source code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7"/>
          <p:cNvSpPr/>
          <p:nvPr/>
        </p:nvSpPr>
        <p:spPr>
          <a:xfrm>
            <a:off x="4526280" y="338328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github.com/milubin/ReflectionAgents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7"/>
          <p:cNvSpPr/>
          <p:nvPr/>
        </p:nvSpPr>
        <p:spPr>
          <a:xfrm>
            <a:off x="777240" y="416052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5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EC0D5"/>
                </a:solidFill>
                <a:latin typeface="Calibri"/>
                <a:ea typeface="Calibri"/>
                <a:cs typeface="Calibri"/>
                <a:sym typeface="Calibri"/>
              </a:rPr>
              <a:t>Reflexion paper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7"/>
          <p:cNvSpPr/>
          <p:nvPr/>
        </p:nvSpPr>
        <p:spPr>
          <a:xfrm>
            <a:off x="4526280" y="416052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arxiv.org/abs/2303.11366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7"/>
          <p:cNvSpPr/>
          <p:nvPr/>
        </p:nvSpPr>
        <p:spPr>
          <a:xfrm>
            <a:off x="777240" y="493776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5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EC0D5"/>
                </a:solidFill>
                <a:latin typeface="Calibri"/>
                <a:ea typeface="Calibri"/>
                <a:cs typeface="Calibri"/>
                <a:sym typeface="Calibri"/>
              </a:rPr>
              <a:t>Stim simulator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7"/>
          <p:cNvSpPr/>
          <p:nvPr/>
        </p:nvSpPr>
        <p:spPr>
          <a:xfrm>
            <a:off x="4526280" y="493776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github.com/quantumlib/Stim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7"/>
          <p:cNvSpPr/>
          <p:nvPr/>
        </p:nvSpPr>
        <p:spPr>
          <a:xfrm>
            <a:off x="777240" y="612648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D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FA3BD"/>
                </a:solidFill>
                <a:latin typeface="Calibri"/>
                <a:ea typeface="Calibri"/>
                <a:cs typeface="Calibri"/>
                <a:sym typeface="Calibri"/>
              </a:rPr>
              <a:t>Mark Lubin  ·  May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